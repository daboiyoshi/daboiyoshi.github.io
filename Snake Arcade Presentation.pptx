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Google Sans Code"/>
      <p:regular r:id="rId15"/>
      <p:bold r:id="rId16"/>
      <p:italic r:id="rId17"/>
      <p:boldItalic r:id="rId18"/>
    </p:embeddedFont>
    <p:embeddedFont>
      <p:font typeface="Google Sans Code Medium"/>
      <p:regular r:id="rId19"/>
      <p:bold r:id="rId20"/>
      <p:italic r:id="rId21"/>
      <p:boldItalic r:id="rId22"/>
    </p:embeddedFont>
    <p:embeddedFont>
      <p:font typeface="Newsreader"/>
      <p:regular r:id="rId23"/>
      <p:bold r:id="rId24"/>
      <p:italic r:id="rId25"/>
      <p:boldItalic r:id="rId26"/>
    </p:embeddedFont>
    <p:embeddedFont>
      <p:font typeface="DM Sans Light"/>
      <p:regular r:id="rId27"/>
      <p:bold r:id="rId28"/>
      <p:italic r:id="rId29"/>
      <p:boldItalic r:id="rId30"/>
    </p:embeddedFont>
    <p:embeddedFont>
      <p:font typeface="DM Sans SemiBold"/>
      <p:regular r:id="rId31"/>
      <p:bold r:id="rId32"/>
      <p:italic r:id="rId33"/>
      <p:boldItalic r:id="rId34"/>
    </p:embeddedFont>
    <p:embeddedFont>
      <p:font typeface="DM Sans"/>
      <p:regular r:id="rId35"/>
      <p:bold r:id="rId36"/>
      <p:italic r:id="rId37"/>
      <p:boldItalic r:id="rId38"/>
    </p:embeddedFont>
    <p:embeddedFont>
      <p:font typeface="Newsreader SemiBold"/>
      <p:regular r:id="rId39"/>
      <p:bold r:id="rId40"/>
      <p:italic r:id="rId41"/>
      <p:boldItalic r:id="rId42"/>
    </p:embeddedFont>
    <p:embeddedFont>
      <p:font typeface="Google Sans Code SemiBold"/>
      <p:regular r:id="rId43"/>
      <p:bold r:id="rId44"/>
      <p:italic r:id="rId45"/>
      <p:boldItalic r:id="rId46"/>
    </p:embeddedFont>
    <p:embeddedFont>
      <p:font typeface="Google Sans Code Light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ewsreaderSemiBold-bold.fntdata"/><Relationship Id="rId42" Type="http://schemas.openxmlformats.org/officeDocument/2006/relationships/font" Target="fonts/NewsreaderSemiBold-boldItalic.fntdata"/><Relationship Id="rId41" Type="http://schemas.openxmlformats.org/officeDocument/2006/relationships/font" Target="fonts/NewsreaderSemiBold-italic.fntdata"/><Relationship Id="rId44" Type="http://schemas.openxmlformats.org/officeDocument/2006/relationships/font" Target="fonts/GoogleSansCodeSemiBold-bold.fntdata"/><Relationship Id="rId43" Type="http://schemas.openxmlformats.org/officeDocument/2006/relationships/font" Target="fonts/GoogleSansCodeSemiBold-regular.fntdata"/><Relationship Id="rId46" Type="http://schemas.openxmlformats.org/officeDocument/2006/relationships/font" Target="fonts/GoogleSansCodeSemiBold-boldItalic.fntdata"/><Relationship Id="rId45" Type="http://schemas.openxmlformats.org/officeDocument/2006/relationships/font" Target="fonts/GoogleSansCode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GoogleSansCodeLight-bold.fntdata"/><Relationship Id="rId47" Type="http://schemas.openxmlformats.org/officeDocument/2006/relationships/font" Target="fonts/GoogleSansCodeLight-regular.fntdata"/><Relationship Id="rId49" Type="http://schemas.openxmlformats.org/officeDocument/2006/relationships/font" Target="fonts/GoogleSansCodeLigh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SemiBold-regular.fntdata"/><Relationship Id="rId30" Type="http://schemas.openxmlformats.org/officeDocument/2006/relationships/font" Target="fonts/DMSansLight-boldItalic.fntdata"/><Relationship Id="rId33" Type="http://schemas.openxmlformats.org/officeDocument/2006/relationships/font" Target="fonts/DMSansSemiBold-italic.fntdata"/><Relationship Id="rId32" Type="http://schemas.openxmlformats.org/officeDocument/2006/relationships/font" Target="fonts/DMSansSemiBold-bold.fntdata"/><Relationship Id="rId35" Type="http://schemas.openxmlformats.org/officeDocument/2006/relationships/font" Target="fonts/DMSans-regular.fntdata"/><Relationship Id="rId34" Type="http://schemas.openxmlformats.org/officeDocument/2006/relationships/font" Target="fonts/DMSansSemiBold-boldItalic.fntdata"/><Relationship Id="rId37" Type="http://schemas.openxmlformats.org/officeDocument/2006/relationships/font" Target="fonts/DMSans-italic.fntdata"/><Relationship Id="rId36" Type="http://schemas.openxmlformats.org/officeDocument/2006/relationships/font" Target="fonts/DMSans-bold.fntdata"/><Relationship Id="rId39" Type="http://schemas.openxmlformats.org/officeDocument/2006/relationships/font" Target="fonts/NewsreaderSemiBold-regular.fntdata"/><Relationship Id="rId38" Type="http://schemas.openxmlformats.org/officeDocument/2006/relationships/font" Target="fonts/DMSans-boldItalic.fntdata"/><Relationship Id="rId20" Type="http://schemas.openxmlformats.org/officeDocument/2006/relationships/font" Target="fonts/GoogleSansCodeMedium-bold.fntdata"/><Relationship Id="rId22" Type="http://schemas.openxmlformats.org/officeDocument/2006/relationships/font" Target="fonts/GoogleSansCodeMedium-boldItalic.fntdata"/><Relationship Id="rId21" Type="http://schemas.openxmlformats.org/officeDocument/2006/relationships/font" Target="fonts/GoogleSansCodeMedium-italic.fntdata"/><Relationship Id="rId24" Type="http://schemas.openxmlformats.org/officeDocument/2006/relationships/font" Target="fonts/Newsreader-bold.fntdata"/><Relationship Id="rId23" Type="http://schemas.openxmlformats.org/officeDocument/2006/relationships/font" Target="fonts/Newsreader-regular.fntdata"/><Relationship Id="rId26" Type="http://schemas.openxmlformats.org/officeDocument/2006/relationships/font" Target="fonts/Newsreader-boldItalic.fntdata"/><Relationship Id="rId25" Type="http://schemas.openxmlformats.org/officeDocument/2006/relationships/font" Target="fonts/Newsreader-italic.fntdata"/><Relationship Id="rId28" Type="http://schemas.openxmlformats.org/officeDocument/2006/relationships/font" Target="fonts/DMSansLight-bold.fntdata"/><Relationship Id="rId27" Type="http://schemas.openxmlformats.org/officeDocument/2006/relationships/font" Target="fonts/DMSansLight-regular.fntdata"/><Relationship Id="rId29" Type="http://schemas.openxmlformats.org/officeDocument/2006/relationships/font" Target="fonts/DMSansLight-italic.fntdata"/><Relationship Id="rId50" Type="http://schemas.openxmlformats.org/officeDocument/2006/relationships/font" Target="fonts/GoogleSansCodeLigh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GoogleSansCode-regular.fntdata"/><Relationship Id="rId14" Type="http://schemas.openxmlformats.org/officeDocument/2006/relationships/slide" Target="slides/slide8.xml"/><Relationship Id="rId17" Type="http://schemas.openxmlformats.org/officeDocument/2006/relationships/font" Target="fonts/GoogleSansCode-italic.fntdata"/><Relationship Id="rId16" Type="http://schemas.openxmlformats.org/officeDocument/2006/relationships/font" Target="fonts/GoogleSansCode-bold.fntdata"/><Relationship Id="rId19" Type="http://schemas.openxmlformats.org/officeDocument/2006/relationships/font" Target="fonts/GoogleSansCodeMedium-regular.fntdata"/><Relationship Id="rId18" Type="http://schemas.openxmlformats.org/officeDocument/2006/relationships/font" Target="fonts/GoogleSansCode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476a62d63_0_1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d476a62d63_0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d476a62d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d476a62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d476a62d6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d476a62d6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476a62d6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d476a62d6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476a62d63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d476a62d63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d476a62d6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d476a62d6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d476a62d6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d476a62d6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d476a62d63_0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d476a62d63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1" name="Google Shape;91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4" name="Google Shape;134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88" name="Google Shape;188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07" name="Google Shape;207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4" name="Google Shape;224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2" name="Google Shape;232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3" name="Google Shape;253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9" name="Google Shape;259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68" name="Google Shape;268;p36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2" name="Google Shape;272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4" name="Google Shape;274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76" name="Google Shape;276;p37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2" name="Google Shape;292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5" name="Google Shape;305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2" name="Google Shape;322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3" name="Google Shape;323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4" name="Google Shape;334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1" name="Google Shape;361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3" name="Google Shape;363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1" name="Google Shape;371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2" name="Google Shape;372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3" name="Google Shape;373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5" name="Google Shape;375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6" name="Google Shape;376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7" name="Google Shape;377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4" name="Google Shape;384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5DAB5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5DAB57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daboiyoshi.com/home/1-0" TargetMode="External"/><Relationship Id="rId4" Type="http://schemas.openxmlformats.org/officeDocument/2006/relationships/hyperlink" Target="https://www.daboiyoshi.com/tools-experiments" TargetMode="External"/><Relationship Id="rId5" Type="http://schemas.openxmlformats.org/officeDocument/2006/relationships/hyperlink" Target="https://snake-arcade-tos.netlify.app/" TargetMode="External"/><Relationship Id="rId6" Type="http://schemas.openxmlformats.org/officeDocument/2006/relationships/hyperlink" Target="https://www.daboiyoshi.com/home/download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3.xml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hyperlink" Target="http://daboiyoshi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7"/>
          <p:cNvSpPr/>
          <p:nvPr/>
        </p:nvSpPr>
        <p:spPr>
          <a:xfrm>
            <a:off x="361975" y="2105200"/>
            <a:ext cx="8242378" cy="9330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dk1"/>
                </a:solidFill>
                <a:latin typeface="Press Start 2P"/>
              </a:rPr>
              <a:t>SNAKE ARCADE</a:t>
            </a:r>
          </a:p>
        </p:txBody>
      </p:sp>
      <p:pic>
        <p:nvPicPr>
          <p:cNvPr id="514" name="Google Shape;514;p67" title="snake_arca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2513" y="95101"/>
            <a:ext cx="1800300" cy="180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515" name="Google Shape;515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3400" y="1731651"/>
            <a:ext cx="2405566" cy="180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7916" y="1731651"/>
            <a:ext cx="2405566" cy="1800424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67"/>
          <p:cNvSpPr/>
          <p:nvPr/>
        </p:nvSpPr>
        <p:spPr>
          <a:xfrm>
            <a:off x="361975" y="2105200"/>
            <a:ext cx="8242378" cy="9330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28575">
                  <a:solidFill>
                    <a:schemeClr val="accent6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Press Start 2P"/>
              </a:rPr>
              <a:t>SNAKE ARCADE</a:t>
            </a:r>
          </a:p>
        </p:txBody>
      </p:sp>
      <p:sp>
        <p:nvSpPr>
          <p:cNvPr id="518" name="Google Shape;518;p67"/>
          <p:cNvSpPr txBox="1"/>
          <p:nvPr/>
        </p:nvSpPr>
        <p:spPr>
          <a:xfrm>
            <a:off x="2329800" y="3059250"/>
            <a:ext cx="554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By daboiYoshi and snake arcade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se-up of an array of floppy discs (Provided by Getty Images)" id="523" name="Google Shape;523;p68"/>
          <p:cNvPicPr preferRelativeResize="0"/>
          <p:nvPr/>
        </p:nvPicPr>
        <p:blipFill rotWithShape="1">
          <a:blip r:embed="rId3">
            <a:alphaModFix/>
          </a:blip>
          <a:srcRect b="0" l="19448" r="19454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68"/>
          <p:cNvSpPr txBox="1"/>
          <p:nvPr>
            <p:ph type="title"/>
          </p:nvPr>
        </p:nvSpPr>
        <p:spPr>
          <a:xfrm>
            <a:off x="361975" y="92352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Google Sans Code Light"/>
                <a:ea typeface="Google Sans Code Light"/>
                <a:cs typeface="Google Sans Code Light"/>
                <a:sym typeface="Google Sans Code Light"/>
              </a:rPr>
              <a:t>Welcome to snake arcade, newcomers!</a:t>
            </a:r>
            <a:endParaRPr sz="3500">
              <a:latin typeface="Google Sans Code Light"/>
              <a:ea typeface="Google Sans Code Light"/>
              <a:cs typeface="Google Sans Code Light"/>
              <a:sym typeface="Google Sans Code Light"/>
            </a:endParaRPr>
          </a:p>
        </p:txBody>
      </p:sp>
      <p:sp>
        <p:nvSpPr>
          <p:cNvPr id="525" name="Google Shape;525;p68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Snake Arcade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4/3/2026</a:t>
            </a:r>
            <a:endParaRPr/>
          </a:p>
        </p:txBody>
      </p:sp>
      <p:sp>
        <p:nvSpPr>
          <p:cNvPr id="526" name="Google Shape;526;p68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hope you enjoy our open source </a:t>
            </a:r>
            <a:r>
              <a:rPr lang="en"/>
              <a:t>resources</a:t>
            </a:r>
            <a:r>
              <a:rPr lang="en"/>
              <a:t> at snake arcade!</a:t>
            </a:r>
            <a:endParaRPr/>
          </a:p>
        </p:txBody>
      </p:sp>
      <p:pic>
        <p:nvPicPr>
          <p:cNvPr id="527" name="Google Shape;527;p68" title="snake_arcad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500" y="2826549"/>
            <a:ext cx="1218898" cy="1218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9"/>
          <p:cNvSpPr/>
          <p:nvPr/>
        </p:nvSpPr>
        <p:spPr>
          <a:xfrm>
            <a:off x="50" y="1804397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3" name="Google Shape;533;p69"/>
          <p:cNvSpPr/>
          <p:nvPr/>
        </p:nvSpPr>
        <p:spPr>
          <a:xfrm>
            <a:off x="3048087" y="1804397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4" name="Google Shape;534;p69"/>
          <p:cNvSpPr/>
          <p:nvPr/>
        </p:nvSpPr>
        <p:spPr>
          <a:xfrm>
            <a:off x="6096124" y="1804397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5" name="Google Shape;535;p69"/>
          <p:cNvSpPr/>
          <p:nvPr/>
        </p:nvSpPr>
        <p:spPr>
          <a:xfrm>
            <a:off x="50" y="3174279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6" name="Google Shape;536;p69"/>
          <p:cNvSpPr/>
          <p:nvPr/>
        </p:nvSpPr>
        <p:spPr>
          <a:xfrm>
            <a:off x="3048087" y="3174279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7" name="Google Shape;537;p69"/>
          <p:cNvSpPr/>
          <p:nvPr/>
        </p:nvSpPr>
        <p:spPr>
          <a:xfrm>
            <a:off x="6096124" y="3174279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8" name="Google Shape;538;p69"/>
          <p:cNvSpPr txBox="1"/>
          <p:nvPr>
            <p:ph idx="1" type="subTitle"/>
          </p:nvPr>
        </p:nvSpPr>
        <p:spPr>
          <a:xfrm>
            <a:off x="363200" y="2516650"/>
            <a:ext cx="23217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 Code"/>
                <a:ea typeface="Google Sans Code"/>
                <a:cs typeface="Google Sans Code"/>
                <a:sym typeface="Google Sans Code"/>
              </a:rPr>
              <a:t>Our mascot, the html </a:t>
            </a:r>
            <a:r>
              <a:rPr b="1" lang="en" u="sng">
                <a:solidFill>
                  <a:schemeClr val="hlink"/>
                </a:solidFill>
                <a:latin typeface="Google Sans Code"/>
                <a:ea typeface="Google Sans Code"/>
                <a:cs typeface="Google Sans Code"/>
                <a:sym typeface="Google Sans Code"/>
                <a:hlinkClick r:id="rId3"/>
              </a:rPr>
              <a:t>snake game</a:t>
            </a:r>
            <a:r>
              <a:rPr b="1" lang="en">
                <a:latin typeface="Google Sans Code"/>
                <a:ea typeface="Google Sans Code"/>
                <a:cs typeface="Google Sans Code"/>
                <a:sym typeface="Google Sans Code"/>
              </a:rPr>
              <a:t>.</a:t>
            </a:r>
            <a:endParaRPr b="1"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539" name="Google Shape;539;p69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40" name="Google Shape;540;p6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1" name="Google Shape;541;p6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Snake Arcade</a:t>
            </a:r>
            <a:endParaRPr/>
          </a:p>
        </p:txBody>
      </p:sp>
      <p:sp>
        <p:nvSpPr>
          <p:cNvPr id="542" name="Google Shape;542;p69"/>
          <p:cNvSpPr txBox="1"/>
          <p:nvPr>
            <p:ph type="title"/>
          </p:nvPr>
        </p:nvSpPr>
        <p:spPr>
          <a:xfrm>
            <a:off x="361975" y="962092"/>
            <a:ext cx="5718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Content </a:t>
            </a:r>
            <a:r>
              <a:rPr i="1" lang="en"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o</a:t>
            </a:r>
            <a:r>
              <a:rPr i="1" lang="en">
                <a:latin typeface="Google Sans Code Medium"/>
                <a:ea typeface="Google Sans Code Medium"/>
                <a:cs typeface="Google Sans Code Medium"/>
                <a:sym typeface="Google Sans Code Medium"/>
              </a:rPr>
              <a:t>verview</a:t>
            </a:r>
            <a:endParaRPr i="1">
              <a:latin typeface="Google Sans Code Medium"/>
              <a:ea typeface="Google Sans Code Medium"/>
              <a:cs typeface="Google Sans Code Medium"/>
              <a:sym typeface="Google Sans Code Medium"/>
            </a:endParaRPr>
          </a:p>
        </p:txBody>
      </p:sp>
      <p:sp>
        <p:nvSpPr>
          <p:cNvPr id="543" name="Google Shape;543;p69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 Code"/>
                <a:ea typeface="Google Sans Code"/>
                <a:cs typeface="Google Sans Code"/>
                <a:sym typeface="Google Sans Code"/>
              </a:rPr>
              <a:t>We created many </a:t>
            </a:r>
            <a:r>
              <a:rPr b="1" lang="en" u="sng">
                <a:solidFill>
                  <a:schemeClr val="hlink"/>
                </a:solidFill>
                <a:latin typeface="Google Sans Code"/>
                <a:ea typeface="Google Sans Code"/>
                <a:cs typeface="Google Sans Code"/>
                <a:sym typeface="Google Sans Code"/>
                <a:hlinkClick r:id="rId4"/>
              </a:rPr>
              <a:t>tools, and projects</a:t>
            </a:r>
            <a:r>
              <a:rPr b="1" lang="en">
                <a:latin typeface="Google Sans Code"/>
                <a:ea typeface="Google Sans Code"/>
                <a:cs typeface="Google Sans Code"/>
                <a:sym typeface="Google Sans Code"/>
              </a:rPr>
              <a:t> for you to use (absolutely free!)</a:t>
            </a:r>
            <a:endParaRPr/>
          </a:p>
        </p:txBody>
      </p:sp>
      <p:sp>
        <p:nvSpPr>
          <p:cNvPr id="544" name="Google Shape;544;p69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45" name="Google Shape;545;p69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 Code"/>
                <a:ea typeface="Google Sans Code"/>
                <a:cs typeface="Google Sans Code"/>
                <a:sym typeface="Google Sans Code"/>
              </a:rPr>
              <a:t>Of course, we made </a:t>
            </a:r>
            <a:r>
              <a:rPr b="1" lang="en" u="sng">
                <a:solidFill>
                  <a:schemeClr val="hlink"/>
                </a:solidFill>
                <a:latin typeface="Google Sans Code"/>
                <a:ea typeface="Google Sans Code"/>
                <a:cs typeface="Google Sans Code"/>
                <a:sym typeface="Google Sans Code"/>
                <a:hlinkClick r:id="rId5"/>
              </a:rPr>
              <a:t>terms of service</a:t>
            </a:r>
            <a:r>
              <a:rPr b="1" lang="en">
                <a:latin typeface="Google Sans Code"/>
                <a:ea typeface="Google Sans Code"/>
                <a:cs typeface="Google Sans Code"/>
                <a:sym typeface="Google Sans Code"/>
              </a:rPr>
              <a:t> so you do not abuse our tools</a:t>
            </a:r>
            <a:endParaRPr/>
          </a:p>
        </p:txBody>
      </p:sp>
      <p:sp>
        <p:nvSpPr>
          <p:cNvPr id="546" name="Google Shape;546;p69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47" name="Google Shape;547;p69"/>
          <p:cNvSpPr txBox="1"/>
          <p:nvPr>
            <p:ph idx="8" type="subTitle"/>
          </p:nvPr>
        </p:nvSpPr>
        <p:spPr>
          <a:xfrm>
            <a:off x="363200" y="3864775"/>
            <a:ext cx="53292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 Code"/>
                <a:ea typeface="Google Sans Code"/>
                <a:cs typeface="Google Sans Code"/>
                <a:sym typeface="Google Sans Code"/>
              </a:rPr>
              <a:t>We make almost everything open-source and </a:t>
            </a:r>
            <a:r>
              <a:rPr b="1" lang="en" u="sng">
                <a:solidFill>
                  <a:schemeClr val="hlink"/>
                </a:solidFill>
                <a:latin typeface="Google Sans Code"/>
                <a:ea typeface="Google Sans Code"/>
                <a:cs typeface="Google Sans Code"/>
                <a:sym typeface="Google Sans Code"/>
                <a:hlinkClick r:id="rId6"/>
              </a:rPr>
              <a:t>downloadable</a:t>
            </a:r>
            <a:r>
              <a:rPr b="1" lang="en">
                <a:latin typeface="Google Sans Code"/>
                <a:ea typeface="Google Sans Code"/>
                <a:cs typeface="Google Sans Code"/>
                <a:sym typeface="Google Sans Code"/>
              </a:rPr>
              <a:t>.</a:t>
            </a:r>
            <a:endParaRPr/>
          </a:p>
        </p:txBody>
      </p:sp>
      <p:sp>
        <p:nvSpPr>
          <p:cNvPr id="548" name="Google Shape;548;p69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70" title="Subject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9" r="179" t="0"/>
          <a:stretch/>
        </p:blipFill>
        <p:spPr>
          <a:xfrm>
            <a:off x="2932625" y="1923314"/>
            <a:ext cx="991800" cy="991801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0"/>
          <p:cNvSpPr/>
          <p:nvPr/>
        </p:nvSpPr>
        <p:spPr>
          <a:xfrm>
            <a:off x="6857075" y="1801500"/>
            <a:ext cx="2294400" cy="3342000"/>
          </a:xfrm>
          <a:prstGeom prst="roundRect">
            <a:avLst>
              <a:gd fmla="val 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4562625" y="1801500"/>
            <a:ext cx="2294400" cy="3342000"/>
          </a:xfrm>
          <a:prstGeom prst="roundRect">
            <a:avLst>
              <a:gd fmla="val 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6" name="Google Shape;556;p70"/>
          <p:cNvSpPr/>
          <p:nvPr/>
        </p:nvSpPr>
        <p:spPr>
          <a:xfrm>
            <a:off x="2294450" y="1801500"/>
            <a:ext cx="2294400" cy="3342000"/>
          </a:xfrm>
          <a:prstGeom prst="roundRect">
            <a:avLst>
              <a:gd fmla="val 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7" name="Google Shape;557;p70"/>
          <p:cNvSpPr/>
          <p:nvPr/>
        </p:nvSpPr>
        <p:spPr>
          <a:xfrm>
            <a:off x="0" y="1801500"/>
            <a:ext cx="2294400" cy="3342000"/>
          </a:xfrm>
          <a:prstGeom prst="roundRect">
            <a:avLst>
              <a:gd fmla="val 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8" name="Google Shape;558;p70"/>
          <p:cNvSpPr txBox="1"/>
          <p:nvPr>
            <p:ph type="title"/>
          </p:nvPr>
        </p:nvSpPr>
        <p:spPr>
          <a:xfrm>
            <a:off x="361975" y="962100"/>
            <a:ext cx="6717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 Code SemiBold"/>
                <a:ea typeface="Google Sans Code SemiBold"/>
                <a:cs typeface="Google Sans Code SemiBold"/>
                <a:sym typeface="Google Sans Code SemiBold"/>
              </a:rPr>
              <a:t>Our </a:t>
            </a:r>
            <a:r>
              <a:rPr i="1" lang="en">
                <a:latin typeface="Google Sans Code SemiBold"/>
                <a:ea typeface="Google Sans Code SemiBold"/>
                <a:cs typeface="Google Sans Code SemiBold"/>
                <a:sym typeface="Google Sans Code SemiBold"/>
              </a:rPr>
              <a:t>Development</a:t>
            </a:r>
            <a:r>
              <a:rPr lang="en">
                <a:latin typeface="Google Sans Code SemiBold"/>
                <a:ea typeface="Google Sans Code SemiBold"/>
                <a:cs typeface="Google Sans Code SemiBold"/>
                <a:sym typeface="Google Sans Code SemiBold"/>
              </a:rPr>
              <a:t> </a:t>
            </a:r>
            <a:r>
              <a:rPr i="1" lang="en">
                <a:latin typeface="Google Sans Code SemiBold"/>
                <a:ea typeface="Google Sans Code SemiBold"/>
                <a:cs typeface="Google Sans Code SemiBold"/>
                <a:sym typeface="Google Sans Code SemiBold"/>
              </a:rPr>
              <a:t>t</a:t>
            </a:r>
            <a:r>
              <a:rPr i="1" lang="en">
                <a:latin typeface="Google Sans Code SemiBold"/>
                <a:ea typeface="Google Sans Code SemiBold"/>
                <a:cs typeface="Google Sans Code SemiBold"/>
                <a:sym typeface="Google Sans Code SemiBold"/>
              </a:rPr>
              <a:t>eam (2)</a:t>
            </a:r>
            <a:endParaRPr i="1">
              <a:latin typeface="Google Sans Code SemiBold"/>
              <a:ea typeface="Google Sans Code SemiBold"/>
              <a:cs typeface="Google Sans Code SemiBold"/>
              <a:sym typeface="Google Sans Code SemiBold"/>
            </a:endParaRPr>
          </a:p>
        </p:txBody>
      </p:sp>
      <p:sp>
        <p:nvSpPr>
          <p:cNvPr id="559" name="Google Shape;559;p7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0" name="Google Shape;560;p70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Snake Arcade</a:t>
            </a:r>
            <a:endParaRPr/>
          </a:p>
        </p:txBody>
      </p:sp>
      <p:sp>
        <p:nvSpPr>
          <p:cNvPr id="561" name="Google Shape;561;p70"/>
          <p:cNvSpPr txBox="1"/>
          <p:nvPr>
            <p:ph idx="19" type="subTitle"/>
          </p:nvPr>
        </p:nvSpPr>
        <p:spPr>
          <a:xfrm>
            <a:off x="4924850" y="3248209"/>
            <a:ext cx="15879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Snake Arcade</a:t>
            </a:r>
            <a:endParaRPr/>
          </a:p>
        </p:txBody>
      </p:sp>
      <p:sp>
        <p:nvSpPr>
          <p:cNvPr id="562" name="Google Shape;562;p70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Developer and manager</a:t>
            </a:r>
            <a:endParaRPr/>
          </a:p>
        </p:txBody>
      </p:sp>
      <p:sp>
        <p:nvSpPr>
          <p:cNvPr id="563" name="Google Shape;563;p70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info@daboiyoshi.com</a:t>
            </a:r>
            <a:endParaRPr/>
          </a:p>
        </p:txBody>
      </p:sp>
      <p:sp>
        <p:nvSpPr>
          <p:cNvPr id="564" name="Google Shape;564;p70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Develops all the code &amp; works on the website when daboiYoshi says.</a:t>
            </a:r>
            <a:endParaRPr/>
          </a:p>
        </p:txBody>
      </p:sp>
      <p:sp>
        <p:nvSpPr>
          <p:cNvPr id="565" name="Google Shape;565;p70"/>
          <p:cNvSpPr txBox="1"/>
          <p:nvPr>
            <p:ph idx="22" type="subTitle"/>
          </p:nvPr>
        </p:nvSpPr>
        <p:spPr>
          <a:xfrm>
            <a:off x="2643513" y="3248209"/>
            <a:ext cx="15879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daboiYoshi</a:t>
            </a:r>
            <a:endParaRPr/>
          </a:p>
        </p:txBody>
      </p:sp>
      <p:sp>
        <p:nvSpPr>
          <p:cNvPr id="566" name="Google Shape;566;p70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CEO Executive Boss</a:t>
            </a:r>
            <a:endParaRPr/>
          </a:p>
        </p:txBody>
      </p:sp>
      <p:sp>
        <p:nvSpPr>
          <p:cNvPr id="567" name="Google Shape;567;p70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info@daboiyoshi.com</a:t>
            </a:r>
            <a:endParaRPr/>
          </a:p>
        </p:txBody>
      </p:sp>
      <p:sp>
        <p:nvSpPr>
          <p:cNvPr id="568" name="Google Shape;568;p70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all the decision making of The Snake Arcade company &amp; website.</a:t>
            </a:r>
            <a:endParaRPr/>
          </a:p>
        </p:txBody>
      </p:sp>
      <p:sp>
        <p:nvSpPr>
          <p:cNvPr id="569" name="Google Shape;569;p70"/>
          <p:cNvSpPr/>
          <p:nvPr>
            <p:ph idx="6" type="pic"/>
          </p:nvPr>
        </p:nvSpPr>
        <p:spPr>
          <a:xfrm>
            <a:off x="5217238" y="1923334"/>
            <a:ext cx="991800" cy="991800"/>
          </a:xfrm>
          <a:prstGeom prst="rect">
            <a:avLst/>
          </a:prstGeom>
        </p:spPr>
      </p:sp>
      <p:pic>
        <p:nvPicPr>
          <p:cNvPr id="570" name="Google Shape;570;p70" title="snake_arcade.pn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4241" y="1923364"/>
            <a:ext cx="991800" cy="99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9574" y="1822925"/>
            <a:ext cx="1137881" cy="11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1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 Code"/>
                <a:ea typeface="Google Sans Code"/>
                <a:cs typeface="Google Sans Code"/>
                <a:sym typeface="Google Sans Code"/>
              </a:rPr>
              <a:t>“Boldly Moving Forward as technology evolves.”</a:t>
            </a:r>
            <a:endParaRPr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577" name="Google Shape;577;p71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 put this as our motto? Because we boldly move forward as time and technology evolves to adapt with the surrounding technological environment to invent, and create new things.</a:t>
            </a:r>
            <a:endParaRPr/>
          </a:p>
        </p:txBody>
      </p:sp>
      <p:sp>
        <p:nvSpPr>
          <p:cNvPr id="578" name="Google Shape;578;p7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9" name="Google Shape;579;p7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Snake Arcade</a:t>
            </a:r>
            <a:endParaRPr/>
          </a:p>
        </p:txBody>
      </p:sp>
      <p:pic>
        <p:nvPicPr>
          <p:cNvPr descr="A glass ceiling" id="580" name="Google Shape;580;p71"/>
          <p:cNvPicPr preferRelativeResize="0"/>
          <p:nvPr/>
        </p:nvPicPr>
        <p:blipFill rotWithShape="1">
          <a:blip r:embed="rId3">
            <a:alphaModFix/>
          </a:blip>
          <a:srcRect b="10956" l="0" r="0" t="10956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1" name="Google Shape;581;p71"/>
          <p:cNvCxnSpPr/>
          <p:nvPr/>
        </p:nvCxnSpPr>
        <p:spPr>
          <a:xfrm>
            <a:off x="356100" y="3843349"/>
            <a:ext cx="5362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2"/>
          <p:cNvSpPr/>
          <p:nvPr/>
        </p:nvSpPr>
        <p:spPr>
          <a:xfrm>
            <a:off x="1442350" y="1325950"/>
            <a:ext cx="6236700" cy="1862400"/>
          </a:xfrm>
          <a:prstGeom prst="wedgeRectCallout">
            <a:avLst>
              <a:gd fmla="val -36370" name="adj1"/>
              <a:gd fmla="val 6654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7" name="Google Shape;587;p7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8" name="Google Shape;588;p7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Snake Arcade</a:t>
            </a:r>
            <a:endParaRPr/>
          </a:p>
        </p:txBody>
      </p:sp>
      <p:sp>
        <p:nvSpPr>
          <p:cNvPr id="589" name="Google Shape;589;p72"/>
          <p:cNvSpPr txBox="1"/>
          <p:nvPr>
            <p:ph type="title"/>
          </p:nvPr>
        </p:nvSpPr>
        <p:spPr>
          <a:xfrm>
            <a:off x="1619400" y="1572250"/>
            <a:ext cx="5905200" cy="136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“We strive to get the best results here at Snake Arcade to get the most out of everything and code well and </a:t>
            </a:r>
            <a:r>
              <a:rPr lang="en"/>
              <a:t>professionally</a:t>
            </a:r>
            <a:r>
              <a:rPr lang="en"/>
              <a:t>.”</a:t>
            </a:r>
            <a:endParaRPr/>
          </a:p>
        </p:txBody>
      </p:sp>
      <p:pic>
        <p:nvPicPr>
          <p:cNvPr id="590" name="Google Shape;590;p72" title="Subject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9" r="179" t="0"/>
          <a:stretch/>
        </p:blipFill>
        <p:spPr>
          <a:xfrm>
            <a:off x="1442350" y="3492500"/>
            <a:ext cx="408900" cy="408900"/>
          </a:xfrm>
          <a:prstGeom prst="ellipse">
            <a:avLst/>
          </a:prstGeom>
        </p:spPr>
      </p:pic>
      <p:sp>
        <p:nvSpPr>
          <p:cNvPr id="591" name="Google Shape;591;p72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daboiYoshi</a:t>
            </a:r>
            <a:endParaRPr/>
          </a:p>
        </p:txBody>
      </p:sp>
      <p:sp>
        <p:nvSpPr>
          <p:cNvPr id="592" name="Google Shape;592;p72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Chief Executive Officer Boss of Snake Arcade</a:t>
            </a:r>
            <a:endParaRPr/>
          </a:p>
        </p:txBody>
      </p:sp>
      <p:pic>
        <p:nvPicPr>
          <p:cNvPr id="593" name="Google Shape;593;p72" title="snake_arca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000" y="1285949"/>
            <a:ext cx="1218898" cy="1218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7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9" name="Google Shape;599;p7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Snake Arcade</a:t>
            </a:r>
            <a:endParaRPr/>
          </a:p>
        </p:txBody>
      </p:sp>
      <p:sp>
        <p:nvSpPr>
          <p:cNvPr id="600" name="Google Shape;600;p73"/>
          <p:cNvSpPr txBox="1"/>
          <p:nvPr>
            <p:ph idx="2" type="subTitle"/>
          </p:nvPr>
        </p:nvSpPr>
        <p:spPr>
          <a:xfrm>
            <a:off x="3154650" y="1051772"/>
            <a:ext cx="4163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601" name="Google Shape;601;p73"/>
          <p:cNvSpPr txBox="1"/>
          <p:nvPr>
            <p:ph type="title"/>
          </p:nvPr>
        </p:nvSpPr>
        <p:spPr>
          <a:xfrm>
            <a:off x="3178350" y="1300625"/>
            <a:ext cx="5622000" cy="34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do try our best to make everything at snake arcade </a:t>
            </a:r>
            <a:r>
              <a:rPr b="1" lang="en"/>
              <a:t>perfect</a:t>
            </a:r>
            <a:r>
              <a:rPr lang="en"/>
              <a:t>, but usually, it is a hard problem to overcome.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things go wrong, we always try our best to solve it too, and if you have any complaints for anything in our website, you can always </a:t>
            </a: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email</a:t>
            </a:r>
            <a:r>
              <a:rPr lang="en"/>
              <a:t> us.</a:t>
            </a:r>
            <a:endParaRPr/>
          </a:p>
        </p:txBody>
      </p:sp>
      <p:pic>
        <p:nvPicPr>
          <p:cNvPr id="602" name="Google Shape;602;p73" title="snake_arca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58072"/>
            <a:ext cx="2873549" cy="287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4"/>
          <p:cNvSpPr/>
          <p:nvPr/>
        </p:nvSpPr>
        <p:spPr>
          <a:xfrm>
            <a:off x="6660175" y="82425"/>
            <a:ext cx="2382300" cy="1994700"/>
          </a:xfrm>
          <a:prstGeom prst="wedgeEllipseCallout">
            <a:avLst>
              <a:gd fmla="val -127159" name="adj1"/>
              <a:gd fmla="val 15909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8" name="Google Shape;608;p74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 Code"/>
                <a:ea typeface="Google Sans Code"/>
                <a:cs typeface="Google Sans Code"/>
                <a:sym typeface="Google Sans Code"/>
              </a:rPr>
              <a:t>Thank you</a:t>
            </a:r>
            <a:endParaRPr>
              <a:latin typeface="Google Sans Code"/>
              <a:ea typeface="Google Sans Code"/>
              <a:cs typeface="Google Sans Code"/>
              <a:sym typeface="Google Sans Code"/>
            </a:endParaRPr>
          </a:p>
        </p:txBody>
      </p:sp>
      <p:sp>
        <p:nvSpPr>
          <p:cNvPr id="609" name="Google Shape;609;p74"/>
          <p:cNvSpPr txBox="1"/>
          <p:nvPr>
            <p:ph idx="1" type="subTitle"/>
          </p:nvPr>
        </p:nvSpPr>
        <p:spPr>
          <a:xfrm>
            <a:off x="451475" y="3776250"/>
            <a:ext cx="3370500" cy="7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so much for participating in our presentation.</a:t>
            </a:r>
            <a:endParaRPr/>
          </a:p>
        </p:txBody>
      </p:sp>
      <p:pic>
        <p:nvPicPr>
          <p:cNvPr descr="Paper card with &quot;thank you&quot; text with red pen and cookies (Provided by Getty Images)" id="610" name="Google Shape;61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512" y="152425"/>
            <a:ext cx="3812372" cy="2542826"/>
          </a:xfrm>
          <a:prstGeom prst="rect">
            <a:avLst/>
          </a:prstGeom>
          <a:noFill/>
          <a:ln cap="flat" cmpd="sng" w="28575">
            <a:solidFill>
              <a:srgbClr val="5DAB5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11" name="Google Shape;611;p74"/>
          <p:cNvSpPr txBox="1"/>
          <p:nvPr/>
        </p:nvSpPr>
        <p:spPr>
          <a:xfrm>
            <a:off x="6927225" y="305425"/>
            <a:ext cx="2040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Sources: github, youtube, google, vs code, google drive, google sites, google slides, google docs, obs, vlc, notepad++, textedit, and all open source free things!!!!!</a:t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2" name="Google Shape;612;p74"/>
          <p:cNvSpPr txBox="1"/>
          <p:nvPr/>
        </p:nvSpPr>
        <p:spPr>
          <a:xfrm>
            <a:off x="3923550" y="4161150"/>
            <a:ext cx="190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DAB57"/>
                </a:solidFill>
                <a:latin typeface="DM Sans"/>
                <a:ea typeface="DM Sans"/>
                <a:cs typeface="DM Sans"/>
                <a:sym typeface="DM Sans"/>
              </a:rPr>
              <a:t>Creators of…</a:t>
            </a:r>
            <a:endParaRPr sz="1200">
              <a:solidFill>
                <a:srgbClr val="5DAB5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daboiyoshi.com</a:t>
            </a:r>
            <a:r>
              <a:rPr lang="en" sz="1200">
                <a:solidFill>
                  <a:srgbClr val="5DAB57"/>
                </a:solidFill>
                <a:latin typeface="DM Sans"/>
                <a:ea typeface="DM Sans"/>
                <a:cs typeface="DM Sans"/>
                <a:sym typeface="DM Sans"/>
              </a:rPr>
              <a:t>, snake arcade</a:t>
            </a:r>
            <a:endParaRPr sz="1200">
              <a:solidFill>
                <a:srgbClr val="5DAB5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